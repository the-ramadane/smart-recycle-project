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6012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1440" cy="3474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SOUTENANCE RNCP 37827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6EDF3"/>
                </a:solidFill>
                <a:latin typeface="Calibri"/>
              </a:defRPr>
            </a:pPr>
            <a:r>
              <a:t>Intégration IA &amp; MLOps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200400"/>
            <a:ext cx="54864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Calibri"/>
              </a:defRPr>
            </a:pPr>
            <a:r>
              <a:t>Projet Smart Recycle  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Épreuve E3  •  20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657600"/>
            <a:ext cx="292608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703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Ramadane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20 minutes — Structure de l'oral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6400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81328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463040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5179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Contexte &amp; Architecture globale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463040"/>
            <a:ext cx="164592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8128" y="1517904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21408"/>
            <a:ext cx="6400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39696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121408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1762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API REST — Exposition du modèle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2121408"/>
            <a:ext cx="164592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8128" y="2176272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79776"/>
            <a:ext cx="6400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798064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2779776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28346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Intégration Full-Stack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2779776"/>
            <a:ext cx="164592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8128" y="2834640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38144"/>
            <a:ext cx="6400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456432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3438144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34930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Monitoring &amp; Logs en 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3438144"/>
            <a:ext cx="164592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3493008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96512"/>
            <a:ext cx="6400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114800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4096512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41513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Tests automatisés (pytest)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4096512"/>
            <a:ext cx="164592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8128" y="4151376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54879"/>
            <a:ext cx="6400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773167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4754879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4809743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Pipeline CI/CD — GitHub 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4754879"/>
            <a:ext cx="164592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68128" y="4809743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413248"/>
            <a:ext cx="64008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5431536"/>
            <a:ext cx="603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" y="5413248"/>
            <a:ext cx="896112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40" y="54681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DF3"/>
                </a:solidFill>
                <a:latin typeface="Calibri"/>
              </a:defRPr>
            </a:pPr>
            <a:r>
              <a:t>Démonstration 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5413248"/>
            <a:ext cx="164592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68128" y="5468112"/>
            <a:ext cx="1609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3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Contexte &amp; Architecture Globale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3949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⚡  Le Besoin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L'utilisateur photographie un déchet.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04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L'IA doit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981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B949E"/>
                </a:solidFill>
                <a:latin typeface="Calibri"/>
              </a:defRPr>
            </a:pPr>
            <a:r>
              <a:t>  →  Reconnaître le type de déchet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B949E"/>
                </a:solidFill>
                <a:latin typeface="Calibri"/>
              </a:defRPr>
            </a:pPr>
            <a:r>
              <a:t>  →  Indiquer la bonne poubelle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B949E"/>
                </a:solidFill>
                <a:latin typeface="Calibri"/>
              </a:defRPr>
            </a:pPr>
            <a:r>
              <a:t>  →  Fournir un conseil de tri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422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02920" y="448970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Le tout en moins de 200ms.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17320"/>
            <a:ext cx="594360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417320"/>
            <a:ext cx="59436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🏗️ 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103120"/>
            <a:ext cx="5394960" cy="64008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103120"/>
            <a:ext cx="73152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121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9572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Calibri"/>
              </a:defRPr>
            </a:pPr>
            <a:r>
              <a:t>Next.js :3000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926079"/>
            <a:ext cx="5394960" cy="64008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926079"/>
            <a:ext cx="73152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44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Backend 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2186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Calibri"/>
              </a:defRPr>
            </a:pPr>
            <a:r>
              <a:t>FastAPI :8000 (YOLO)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5394960" cy="64008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749039"/>
            <a:ext cx="73152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6732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Base de données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041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Calibri"/>
              </a:defRPr>
            </a:pPr>
            <a:r>
              <a:t>PostgreSQL :5432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572000"/>
            <a:ext cx="5394960" cy="64008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4572000"/>
            <a:ext cx="73152" cy="6400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590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864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Calibri"/>
              </a:defRPr>
            </a:pPr>
            <a:r>
              <a:t>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API REST — Exposition du Modèle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97316"/>
                </a:solidFill>
                <a:latin typeface="Calibri"/>
              </a:defRPr>
            </a:pPr>
            <a:r>
              <a:t>Pourquoi FastAPI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Asynchrone (ASGI) — parfait pour les uploads d'images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Documentation Swagger auto-générée sur /docs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815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Validation Pydantic — erreur 422 si requête incorrecte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5486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Calibri"/>
              </a:defRPr>
            </a:pPr>
            <a:r>
              <a:t>Endpoints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79"/>
            <a:ext cx="548640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11879"/>
            <a:ext cx="91440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703320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575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307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Health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97679"/>
            <a:ext cx="548640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97679"/>
            <a:ext cx="9144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389119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433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/classify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41655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Reçoit image → Retourne 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417320"/>
            <a:ext cx="5760720" cy="512064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417320"/>
            <a:ext cx="5760720" cy="41148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  <a:latin typeface="Calibri"/>
              </a:defRPr>
            </a:pPr>
            <a:r>
              <a:t>  RÉPONSE  /classify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74519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500" b="0">
                <a:solidFill>
                  <a:srgbClr val="3FB950"/>
                </a:solidFill>
                <a:latin typeface="Calibri"/>
              </a:defRPr>
            </a:pPr>
            <a:r>
              <a:t>{</a:t>
            </a:r>
            <a:br/>
            <a:r>
              <a:t>  "filename": "bouteille.jpg",</a:t>
            </a:r>
            <a:br/>
            <a:r>
              <a:t>  "detections": [</a:t>
            </a:r>
            <a:br/>
            <a:r>
              <a:t>    {</a:t>
            </a:r>
            <a:br/>
            <a:r>
              <a:t>      "label": "PLASTIC",</a:t>
            </a:r>
            <a:br/>
            <a:r>
              <a:t>      "confidence": 0.89,</a:t>
            </a:r>
            <a:br/>
            <a:r>
              <a:t>      "bin_color": "yellow",</a:t>
            </a:r>
            <a:br/>
            <a:r>
              <a:t>      "advice": "Poubelle jaune ♻"</a:t>
            </a:r>
            <a:br/>
            <a:r>
              <a:t>    }</a:t>
            </a:r>
            <a:br/>
            <a:r>
              <a:t>  ],</a:t>
            </a:r>
            <a:br/>
            <a:r>
              <a:t>  "total_objects_detected": 1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Intégration dans l'Application Full-Stack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25603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256032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DF3"/>
                </a:solidFill>
                <a:latin typeface="Calibri"/>
              </a:defRPr>
            </a:pPr>
            <a:r>
              <a:t>👤 Utilisateur</a:t>
            </a:r>
            <a:br/>
            <a:r>
              <a:t>Photographie</a:t>
            </a:r>
            <a:br/>
            <a:r>
              <a:t>un déchet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926080"/>
            <a:ext cx="25603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926080"/>
            <a:ext cx="2560320" cy="64008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035808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DF3"/>
                </a:solidFill>
                <a:latin typeface="Calibri"/>
              </a:defRPr>
            </a:pPr>
            <a:r>
              <a:t>🖥️ Next.js</a:t>
            </a:r>
            <a:br/>
            <a:r>
              <a:t>Frontend</a:t>
            </a:r>
            <a:br/>
            <a:r>
              <a:t>:3000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926080"/>
            <a:ext cx="25603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926080"/>
            <a:ext cx="256032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3035808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DF3"/>
                </a:solidFill>
                <a:latin typeface="Calibri"/>
              </a:defRPr>
            </a:pPr>
            <a:r>
              <a:t>⚙️ FastAPI</a:t>
            </a:r>
            <a:br/>
            <a:r>
              <a:t>Backend IA</a:t>
            </a:r>
            <a:br/>
            <a:r>
              <a:t>:8000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926080"/>
            <a:ext cx="25603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2926080"/>
            <a:ext cx="2560320" cy="64008"/>
          </a:xfrm>
          <a:prstGeom prst="rect">
            <a:avLst/>
          </a:prstGeom>
          <a:solidFill>
            <a:srgbClr val="A1A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3035808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DF3"/>
                </a:solidFill>
                <a:latin typeface="Calibri"/>
              </a:defRPr>
            </a:pPr>
            <a:r>
              <a:t>🧠 YOLOv10</a:t>
            </a:r>
            <a:br/>
            <a:r>
              <a:t>Modèle IA</a:t>
            </a:r>
            <a:br/>
            <a:r>
              <a:t>Détection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4251960"/>
            <a:ext cx="41148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0" y="4251960"/>
            <a:ext cx="4114800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43434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6EDF3"/>
                </a:solidFill>
                <a:latin typeface="Calibri"/>
              </a:defRPr>
            </a:pPr>
            <a:r>
              <a:t>🗄️  PostgreSQL  —  Historique des scans + Gamification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  <a:latin typeface="Calibri"/>
              </a:defRPr>
            </a:pPr>
            <a:r>
              <a:t>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Flux de données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1828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①  Photo prise → Envoi en multipart/form-data à POST /classify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2311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②  YOLOv10 analyse l'image → JSON retourné avec label + confiance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6334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③  Résultat affiché sur l'interface + Scan enregistré en base de données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Monitoring &amp; Logs Structurés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B949E"/>
                </a:solidFill>
                <a:latin typeface="Calibri"/>
              </a:defRPr>
            </a:pPr>
            <a:r>
              <a:t>Configuration : double sortie (console + fichier app.log persistant)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1430000" cy="470916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11430000" cy="3657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  📄  app.log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Calibri"/>
              </a:defRPr>
            </a:pPr>
            <a:r>
              <a:t>2026-05-23 21:00:01 | INFO    | 🚀 Smart Recycle API démarrée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883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A6FF"/>
                </a:solidFill>
                <a:latin typeface="Calibri"/>
              </a:defRPr>
            </a:pPr>
            <a:r>
              <a:t>2026-05-23 21:00:04 | INFO    | POST /classify — Fichier : 'verre.jpg'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Calibri"/>
              </a:defRPr>
            </a:pPr>
            <a:r>
              <a:t>2026-05-23 21:00:04 | INFO    | ✅ Détection en 142ms — GLASS (91%)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930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A6FF"/>
                </a:solidFill>
                <a:latin typeface="Calibri"/>
              </a:defRPr>
            </a:pPr>
            <a:r>
              <a:t>2026-05-23 21:00:08 | INFO    | POST /classify — Fichier : 'carton.png'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953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Calibri"/>
              </a:defRPr>
            </a:pPr>
            <a:r>
              <a:t>2026-05-23 21:00:08 | INFO    | ✅ Détection en 98ms — CARDBOARD (87%)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Calibri"/>
              </a:defRPr>
            </a:pPr>
            <a:r>
              <a:t>2026-05-23 21:00:15 | WARNING | ⚠  Fichier vide reçu — requête rejetée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00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2026-05-23 21:00:22 | INFO    | ⚠  Aucun objet détecté (seuil 0.40)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023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5149"/>
                </a:solidFill>
                <a:latin typeface="Calibri"/>
              </a:defRPr>
            </a:pPr>
            <a:r>
              <a:t>2026-05-23 21:00:45 | ERROR   | ❌ Erreur classification — ValueError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Tests Automatisés — pytest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3949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Stratégie : Mock du modèle YOLO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Les tests tournent sans GPU</a:t>
            </a:r>
            <a:br/>
            <a:r>
              <a:t>nisans ultralytics installé.</a:t>
            </a:r>
            <a:br/>
            <a:br/>
            <a:r>
              <a:t>Compatible CI/CD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Commande d'exécution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5029200" cy="50292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Calibri"/>
              </a:defRPr>
            </a:pPr>
            <a:r>
              <a:t>pytest tests/test_api.py -v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5029200" cy="548640"/>
          </a:xfrm>
          <a:prstGeom prst="rect">
            <a:avLst/>
          </a:prstGeom>
          <a:solidFill>
            <a:srgbClr val="233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73152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074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Calibri"/>
              </a:defRPr>
            </a:pPr>
            <a:r>
              <a:t>  7 passed in 0.32s 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417320"/>
            <a:ext cx="594360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417320"/>
            <a:ext cx="59436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Calibri"/>
              </a:defRPr>
            </a:pPr>
            <a:r>
              <a:t>7 tests — 3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01168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TestHealthCheck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331720"/>
            <a:ext cx="5577840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404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✓  GET / retourne 200 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852928"/>
            <a:ext cx="5577840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926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✓  Le message contient 'running'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37413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TestClassifyEndpoint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694176"/>
            <a:ext cx="5577840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✓  Image valide → 200 + 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215384"/>
            <a:ext cx="5577840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2885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✓  Les 3 champs JSON présents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736592"/>
            <a:ext cx="5577840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8097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✓  total = len(detections)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257800"/>
            <a:ext cx="5577840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330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✓  Structure de chaque détection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7790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Calibri"/>
              </a:defRPr>
            </a:pPr>
            <a:r>
              <a:t>TestClassifyValidation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6099048"/>
            <a:ext cx="5577840" cy="43891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6172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✓  Sans fichier → 422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Pipeline CI/CD — GitHub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B949E"/>
                </a:solidFill>
                <a:latin typeface="Calibri"/>
              </a:defRPr>
            </a:pPr>
            <a:r>
              <a:t>Déclenchement : automatique à chaque git push sur 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645920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164592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  <a:latin typeface="Calibri"/>
              </a:defRPr>
            </a:pPr>
            <a:r>
              <a:t>📤  git push</a:t>
            </a:r>
            <a:br/>
            <a:r>
              <a:t>sur 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103120"/>
            <a:ext cx="22860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103120"/>
            <a:ext cx="228600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21284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  <a:latin typeface="Calibri"/>
              </a:defRPr>
            </a:pPr>
            <a:r>
              <a:t>🧪  Job 1</a:t>
            </a:r>
            <a:br/>
            <a:r>
              <a:t>test-fastapi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103120"/>
            <a:ext cx="1828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94960" y="2103120"/>
            <a:ext cx="18288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212848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  <a:latin typeface="Calibri"/>
              </a:defRPr>
            </a:pPr>
            <a:r>
              <a:t>📦  pip install</a:t>
            </a:r>
            <a:br/>
            <a:r>
              <a:t>+ pytest 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103120"/>
            <a:ext cx="22860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2103120"/>
            <a:ext cx="2286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21284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  <a:latin typeface="Calibri"/>
              </a:defRPr>
            </a:pPr>
            <a:r>
              <a:t>🐳  Job 2</a:t>
            </a:r>
            <a:br/>
            <a:r>
              <a:t>build-docker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2103120"/>
            <a:ext cx="155448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49840" y="2103120"/>
            <a:ext cx="155448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2212848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EDF3"/>
                </a:solidFill>
                <a:latin typeface="Calibri"/>
              </a:defRPr>
            </a:pPr>
            <a:r>
              <a:t>✅  Image</a:t>
            </a:r>
            <a:br/>
            <a:r>
              <a:t>validée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566160"/>
            <a:ext cx="4663440" cy="640080"/>
          </a:xfrm>
          <a:prstGeom prst="rect">
            <a:avLst/>
          </a:prstGeom>
          <a:solidFill>
            <a:srgbClr val="282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3566160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3675887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needs: test-fastapi  →  Job 2 démarre SEULEMENT si Job 1 réussit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Ce que ça garantit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→  Les tests s'exécutent automatiquement à chaque modification de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2760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→  Aucun code non-testé ne peut être packagé en image 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05855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EDF3"/>
                </a:solidFill>
                <a:latin typeface="Calibri"/>
              </a:defRPr>
            </a:pPr>
            <a:r>
              <a:t>→  En cas d'échec, GitHub envoie une notification immédiate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97316"/>
                </a:solidFill>
                <a:latin typeface="Calibri"/>
              </a:defRPr>
            </a:pPr>
            <a:r>
              <a:t>DÉMONSTRATION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606040"/>
            <a:ext cx="67025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949E"/>
                </a:solidFill>
                <a:latin typeface="Calibri"/>
              </a:defRPr>
            </a:pPr>
            <a:r>
              <a:t>Live — 3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57600"/>
            <a:ext cx="9418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657600"/>
            <a:ext cx="41148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3721608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749039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Lancer l'API FastAPI  →  uvicorn app.main:app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24528"/>
            <a:ext cx="9418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224528"/>
            <a:ext cx="41148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4288536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315968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Ouvrir Swagger /docs  →  Montrer les endpoints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91456"/>
            <a:ext cx="9418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791456"/>
            <a:ext cx="41148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4855464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882896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POST /classify avec une image réelle  →  Voir la réponse 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358384"/>
            <a:ext cx="9418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5358384"/>
            <a:ext cx="41148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5422392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449824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Montrer le fichier app.log  →  Les lignes de monitoring en temps réel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925312"/>
            <a:ext cx="9418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5925312"/>
            <a:ext cx="411480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9888" y="5989320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6016752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Calibri"/>
              </a:defRPr>
            </a:pPr>
            <a:r>
              <a:t>Ouvrir GitHub  →  Montrer le badge vert du pipeline CI/CD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" y="0"/>
            <a:ext cx="12115800" cy="1280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10972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114300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73152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653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92807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L'IA est exposée via une API REST documentée et robuste.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42032"/>
            <a:ext cx="114300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542032"/>
            <a:ext cx="73152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70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97479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Elle est intégrée dans une vraie application utilisateur Full-Stack.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46703"/>
            <a:ext cx="114300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46703"/>
            <a:ext cx="73152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02151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Son comportement est monitoré en production (Logs structurés).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51376"/>
            <a:ext cx="114300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151376"/>
            <a:ext cx="73152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279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0682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Sa qualité est garantie par 7 tests automatisés (pytest + Mock).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56048"/>
            <a:ext cx="114300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56048"/>
            <a:ext cx="73152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0840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B95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114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  <a:latin typeface="Calibri"/>
              </a:defRPr>
            </a:pPr>
            <a:r>
              <a:t>Son déploiement est automatisé et sécurisé (CI/CD GitHub Actions).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943600"/>
            <a:ext cx="11430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8B949E"/>
                </a:solidFill>
                <a:latin typeface="Calibri"/>
              </a:defRPr>
            </a:pPr>
            <a:r>
              <a:t>Merci pour votre attention. Je suis prêt à répondre à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