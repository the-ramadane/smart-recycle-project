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776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 dirty="0">
                <a:solidFill>
                  <a:srgbClr val="FFFFFF"/>
                </a:solidFill>
                <a:latin typeface="Calibri"/>
              </a:rPr>
              <a:t>♻️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FFFFFF"/>
                </a:solidFill>
                <a:latin typeface="Calibri"/>
              </a:rPr>
              <a:t>Smart Recycle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4D399"/>
                </a:solidFill>
                <a:latin typeface="Calibri"/>
              </a:rPr>
              <a:t>Application Web de Tri par Intelligence Artificielle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926080"/>
            <a:ext cx="5486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3108960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chemeClr val="bg1"/>
                </a:solidFill>
                <a:latin typeface="Calibri"/>
              </a:rPr>
              <a:t>Projet</a:t>
            </a:r>
            <a:r>
              <a:rPr sz="1800" b="0" i="0" dirty="0">
                <a:solidFill>
                  <a:schemeClr val="bg1"/>
                </a:solidFill>
                <a:latin typeface="Calibri"/>
              </a:rPr>
              <a:t> de Fin </a:t>
            </a:r>
            <a:r>
              <a:rPr sz="1800" b="0" i="0" dirty="0" err="1">
                <a:solidFill>
                  <a:schemeClr val="bg1"/>
                </a:solidFill>
                <a:latin typeface="Calibri"/>
              </a:rPr>
              <a:t>d'Études</a:t>
            </a:r>
            <a:r>
              <a:rPr sz="1800" b="0" i="0" dirty="0">
                <a:solidFill>
                  <a:schemeClr val="bg1"/>
                </a:solidFill>
                <a:latin typeface="Calibri"/>
              </a:rPr>
              <a:t> —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459599"/>
            <a:ext cx="86868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chemeClr val="bg1"/>
                </a:solidFill>
                <a:latin typeface="Calibri"/>
              </a:rPr>
              <a:t>•  </a:t>
            </a:r>
            <a:r>
              <a:rPr lang="en-US" sz="1400" b="0" i="1" dirty="0">
                <a:solidFill>
                  <a:schemeClr val="bg1"/>
                </a:solidFill>
                <a:latin typeface="Calibri"/>
              </a:rPr>
              <a:t>B3 – Bachelor </a:t>
            </a:r>
            <a:r>
              <a:rPr lang="en-US" sz="1400" b="0" i="1" dirty="0" err="1">
                <a:solidFill>
                  <a:schemeClr val="bg1"/>
                </a:solidFill>
                <a:latin typeface="Calibri"/>
              </a:rPr>
              <a:t>Devveloppeur</a:t>
            </a:r>
            <a:r>
              <a:rPr lang="en-US" sz="1400" b="0" i="1" dirty="0">
                <a:solidFill>
                  <a:schemeClr val="bg1"/>
                </a:solidFill>
                <a:latin typeface="Calibri"/>
              </a:rPr>
              <a:t> IA</a:t>
            </a:r>
          </a:p>
          <a:p>
            <a:pPr algn="l"/>
            <a:r>
              <a:rPr sz="1400" b="0" i="1" dirty="0">
                <a:solidFill>
                  <a:schemeClr val="bg1"/>
                </a:solidFill>
                <a:latin typeface="Calibri"/>
              </a:rPr>
              <a:t>•  </a:t>
            </a:r>
            <a:r>
              <a:rPr lang="en-US" sz="1400" b="0" i="1" dirty="0">
                <a:solidFill>
                  <a:schemeClr val="bg1"/>
                </a:solidFill>
                <a:latin typeface="Calibri"/>
              </a:rPr>
              <a:t>École Centrale </a:t>
            </a:r>
            <a:r>
              <a:rPr lang="en-US" sz="1400" b="0" i="1" dirty="0" err="1">
                <a:solidFill>
                  <a:schemeClr val="bg1"/>
                </a:solidFill>
                <a:latin typeface="Calibri"/>
              </a:rPr>
              <a:t>D’electronique</a:t>
            </a:r>
            <a:r>
              <a:rPr lang="en-US" sz="1400" b="0" i="1" dirty="0">
                <a:solidFill>
                  <a:schemeClr val="bg1"/>
                </a:solidFill>
                <a:latin typeface="Calibri"/>
              </a:rPr>
              <a:t> – campus Lyon</a:t>
            </a:r>
          </a:p>
          <a:p>
            <a:pPr marL="285750" indent="-285750" algn="l">
              <a:buFontTx/>
              <a:buChar char="-"/>
            </a:pPr>
            <a:r>
              <a:rPr lang="en-US" sz="1400" i="1" dirty="0">
                <a:solidFill>
                  <a:schemeClr val="bg1"/>
                </a:solidFill>
                <a:latin typeface="Calibri"/>
              </a:rPr>
              <a:t>Membre du </a:t>
            </a:r>
            <a:r>
              <a:rPr lang="en-US" sz="1400" i="1" dirty="0" err="1">
                <a:solidFill>
                  <a:schemeClr val="bg1"/>
                </a:solidFill>
                <a:latin typeface="Calibri"/>
              </a:rPr>
              <a:t>projet</a:t>
            </a:r>
            <a:r>
              <a:rPr lang="en-US" sz="1400" i="1" dirty="0">
                <a:solidFill>
                  <a:schemeClr val="bg1"/>
                </a:solidFill>
                <a:latin typeface="Calibri"/>
              </a:rPr>
              <a:t> :</a:t>
            </a:r>
          </a:p>
          <a:p>
            <a:pPr algn="l"/>
            <a:r>
              <a:rPr lang="en-US" sz="1400" b="0" i="1" dirty="0">
                <a:solidFill>
                  <a:schemeClr val="bg1"/>
                </a:solidFill>
                <a:latin typeface="Calibri"/>
              </a:rPr>
              <a:t>	</a:t>
            </a:r>
            <a:r>
              <a:rPr lang="en-US" sz="1500" b="0" i="1" dirty="0">
                <a:solidFill>
                  <a:schemeClr val="bg1"/>
                </a:solidFill>
                <a:latin typeface="Calibri"/>
              </a:rPr>
              <a:t>Mouhammadou Ramadane Diallo</a:t>
            </a:r>
          </a:p>
          <a:p>
            <a:r>
              <a:rPr lang="en-US" sz="1500" i="1" dirty="0">
                <a:solidFill>
                  <a:schemeClr val="bg1"/>
                </a:solidFill>
                <a:latin typeface="Calibri"/>
              </a:rPr>
              <a:t>          </a:t>
            </a:r>
            <a:r>
              <a:rPr lang="fr-FR" sz="1500" i="1" dirty="0">
                <a:solidFill>
                  <a:schemeClr val="bg1"/>
                </a:solidFill>
              </a:rPr>
              <a:t>Irvine </a:t>
            </a:r>
            <a:r>
              <a:rPr lang="fr-FR" sz="1500" i="1" dirty="0" err="1">
                <a:solidFill>
                  <a:schemeClr val="bg1"/>
                </a:solidFill>
              </a:rPr>
              <a:t>Babeni-Lutumba</a:t>
            </a:r>
            <a:r>
              <a:rPr lang="fr-FR" sz="1500" i="1" dirty="0">
                <a:solidFill>
                  <a:schemeClr val="bg1"/>
                </a:solidFill>
              </a:rPr>
              <a:t> </a:t>
            </a:r>
          </a:p>
          <a:p>
            <a:r>
              <a:rPr lang="fr-FR" sz="1500" i="1" dirty="0">
                <a:solidFill>
                  <a:schemeClr val="bg1"/>
                </a:solidFill>
              </a:rPr>
              <a:t>          </a:t>
            </a:r>
            <a:r>
              <a:rPr lang="fr-FR" sz="1500" i="1" dirty="0" err="1">
                <a:solidFill>
                  <a:schemeClr val="bg1"/>
                </a:solidFill>
              </a:rPr>
              <a:t>Jardel</a:t>
            </a:r>
            <a:r>
              <a:rPr lang="fr-FR" sz="1500" i="1" dirty="0">
                <a:solidFill>
                  <a:schemeClr val="bg1"/>
                </a:solidFill>
              </a:rPr>
              <a:t> </a:t>
            </a:r>
            <a:r>
              <a:rPr lang="fr-FR" sz="1500" i="1" dirty="0" err="1">
                <a:solidFill>
                  <a:schemeClr val="bg1"/>
                </a:solidFill>
              </a:rPr>
              <a:t>Eguedon</a:t>
            </a:r>
            <a:r>
              <a:rPr lang="fr-FR" sz="1500" i="1" dirty="0">
                <a:solidFill>
                  <a:schemeClr val="bg1"/>
                </a:solidFill>
              </a:rPr>
              <a:t> </a:t>
            </a:r>
            <a:r>
              <a:rPr lang="fr-FR" sz="1500" i="1" dirty="0" err="1">
                <a:solidFill>
                  <a:schemeClr val="bg1"/>
                </a:solidFill>
              </a:rPr>
              <a:t>Edji</a:t>
            </a:r>
            <a:r>
              <a:rPr lang="fr-FR" sz="1500" i="1" dirty="0">
                <a:solidFill>
                  <a:schemeClr val="bg1"/>
                </a:solidFill>
              </a:rPr>
              <a:t> </a:t>
            </a:r>
          </a:p>
          <a:p>
            <a:r>
              <a:rPr lang="fr-FR" sz="1500" i="1" dirty="0">
                <a:solidFill>
                  <a:schemeClr val="bg1"/>
                </a:solidFill>
              </a:rPr>
              <a:t>          Ba-</a:t>
            </a:r>
            <a:r>
              <a:rPr lang="fr-FR" sz="1500" i="1" dirty="0" err="1">
                <a:solidFill>
                  <a:schemeClr val="bg1"/>
                </a:solidFill>
              </a:rPr>
              <a:t>Dzuy</a:t>
            </a:r>
            <a:r>
              <a:rPr lang="fr-FR" sz="1500" i="1" dirty="0">
                <a:solidFill>
                  <a:schemeClr val="bg1"/>
                </a:solidFill>
              </a:rPr>
              <a:t> NGO</a:t>
            </a:r>
            <a:endParaRPr lang="fr-FR" sz="1500" i="1" dirty="0">
              <a:solidFill>
                <a:schemeClr val="bg1">
                  <a:lumMod val="65000"/>
                </a:schemeClr>
              </a:solidFill>
            </a:endParaRPr>
          </a:p>
          <a:p>
            <a:pPr algn="l"/>
            <a:r>
              <a:rPr lang="en-US" sz="1400" b="0" i="1" dirty="0">
                <a:solidFill>
                  <a:srgbClr val="94A3B8"/>
                </a:solidFill>
                <a:latin typeface="Calibri"/>
              </a:rPr>
              <a:t>	</a:t>
            </a:r>
          </a:p>
          <a:p>
            <a:pPr algn="l"/>
            <a:endParaRPr sz="1400" b="0" i="1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86722" y="5254109"/>
            <a:ext cx="17373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86722" y="525410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F172A"/>
                </a:solidFill>
                <a:latin typeface="Calibri"/>
              </a:rPr>
              <a:t>YOLOv11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6962" y="5254109"/>
            <a:ext cx="173736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6962" y="525410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7202" y="5254109"/>
            <a:ext cx="17373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7202" y="525410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Next.js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7442" y="5254109"/>
            <a:ext cx="1737360" cy="411480"/>
          </a:xfrm>
          <a:prstGeom prst="rect">
            <a:avLst/>
          </a:prstGeom>
          <a:solidFill>
            <a:srgbClr val="260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442" y="525410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Problématique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Solution Proposée — Smart Recycle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33172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Modèle IA — YOLOv11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79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832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Fonctionnalités Clés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383279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747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Gamification &amp; Éco-Bot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3484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43484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434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Résultats &amp;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01 —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Pourquoi le tri reste un défi citoyen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  <a:latin typeface="Calibri"/>
              </a:rPr>
              <a:t>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tonnes de déchets
ménagers/an en France
(ADEME, 2023)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6459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  <a:latin typeface="Calibr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51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des déchets du bac
jaune sont mal triés
(Citeo,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  <a:latin typeface="Calibri"/>
              </a:rPr>
              <a:t>3,4Md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tonnes prévues
mondiales en 2050
(Banque Mondiale)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Causes principales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Confusion des consignes (variables selon les communes)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Manque d'information pour les déchets atypiques (piles, médicaments...)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Absence de retour immédiat après le geste de tri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Comportement passif — faible motivation sans récompense</a:t>
            </a:r>
          </a:p>
          <a:p>
            <a:endParaRPr sz="1600">
              <a:solidFill>
                <a:srgbClr val="FFFFFF"/>
              </a:solidFill>
              <a:latin typeface="Calibri"/>
            </a:endParaRP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🎯 Public cible :</a:t>
            </a:r>
          </a:p>
          <a:p>
            <a:r>
              <a:t>▸ Grand public, familles, écoles et citoyens acteurs de la transition écologique.</a:t>
            </a:r>
          </a:p>
          <a:p>
            <a:endParaRPr/>
          </a:p>
          <a:p>
            <a:pPr>
              <a:defRPr b="1"/>
            </a:pPr>
            <a:r>
              <a:t>🚀 Objectifs :</a:t>
            </a:r>
          </a:p>
          <a:p>
            <a:r>
              <a:t>▸ Simplifier la prise de décision lors du tri grâce à l'IA.</a:t>
            </a:r>
          </a:p>
          <a:p>
            <a:r>
              <a:t>▸ Sensibiliser par la gamification et ancrer les bonnes habitudes.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BC57E-B7AF-02BF-35CA-BF8AF0DC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256926-B6C5-9F7C-6E11-1D9E9B531F58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E0747-CA2A-26FC-8B3B-BD5098EDE5FA}"/>
              </a:ext>
            </a:extLst>
          </p:cNvPr>
          <p:cNvSpPr txBox="1"/>
          <p:nvPr/>
        </p:nvSpPr>
        <p:spPr>
          <a:xfrm>
            <a:off x="457200" y="164592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Public Cible &amp; Objectifs</a:t>
            </a:r>
            <a:endParaRPr sz="3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B7B00-5342-B49C-8F7E-AA8C0E0D233C}"/>
              </a:ext>
            </a:extLst>
          </p:cNvPr>
          <p:cNvSpPr txBox="1"/>
          <p:nvPr/>
        </p:nvSpPr>
        <p:spPr>
          <a:xfrm>
            <a:off x="608012" y="1175110"/>
            <a:ext cx="10972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 lang="fr-GN" sz="3200" dirty="0"/>
              <a:t>🎯 </a:t>
            </a:r>
            <a:r>
              <a:rPr lang="fr-FR" sz="3200" dirty="0"/>
              <a:t>Public cible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▸ Grand public, familles, écoles et citoyens acteurs de la transition écologique.</a:t>
            </a:r>
          </a:p>
          <a:p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60759-49E2-113D-8ED6-069151D71162}"/>
              </a:ext>
            </a:extLst>
          </p:cNvPr>
          <p:cNvSpPr txBox="1"/>
          <p:nvPr/>
        </p:nvSpPr>
        <p:spPr>
          <a:xfrm>
            <a:off x="11397932" y="691754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3 / 15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7F48851-F8FA-AC82-23B9-11A1FE7F46F5}"/>
              </a:ext>
            </a:extLst>
          </p:cNvPr>
          <p:cNvSpPr txBox="1"/>
          <p:nvPr/>
        </p:nvSpPr>
        <p:spPr>
          <a:xfrm>
            <a:off x="608012" y="2406216"/>
            <a:ext cx="109728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pPr>
              <a:defRPr b="1"/>
            </a:pPr>
            <a:r>
              <a:rPr lang="fr-GN" sz="3200" dirty="0"/>
              <a:t>🚀 </a:t>
            </a:r>
            <a:r>
              <a:rPr lang="fr-FR" sz="3200" dirty="0">
                <a:solidFill>
                  <a:srgbClr val="00B050"/>
                </a:solidFill>
              </a:rPr>
              <a:t>Objectifs</a:t>
            </a:r>
            <a:r>
              <a:rPr lang="fr-FR" sz="3200" dirty="0"/>
              <a:t>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▸ Simplifier la prise de décision lors du tri grâce à l'IA.</a:t>
            </a:r>
          </a:p>
          <a:p>
            <a:r>
              <a:rPr lang="fr-FR" sz="2400" dirty="0">
                <a:solidFill>
                  <a:schemeClr val="bg1"/>
                </a:solidFill>
              </a:rPr>
              <a:t>▸ Sensibiliser par la gamification et ancrer les bonnes habitudes.</a:t>
            </a:r>
          </a:p>
        </p:txBody>
      </p:sp>
    </p:spTree>
    <p:extLst>
      <p:ext uri="{BB962C8B-B14F-4D97-AF65-F5344CB8AC3E}">
        <p14:creationId xmlns:p14="http://schemas.microsoft.com/office/powerpoint/2010/main" val="241999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— Solution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Smart Recycle en un coup d'œil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4D399"/>
                </a:solidFill>
                <a:latin typeface="Calibri"/>
              </a:rPr>
              <a:t>Une application web qui transforme le tri en expérience éducative et engageante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Scanner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94A3B8"/>
                </a:solidFill>
                <a:latin typeface="Calibri"/>
              </a:rPr>
              <a:t>Détection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YOLO avec
bounding boxes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temps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réel</a:t>
            </a:r>
            <a:endParaRPr sz="13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51959" y="17373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19" y="1847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Quiz Pédagogique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514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Teste les connaissances
après chaque 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847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Éco-Bot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Compagnon Tamagotchi
qui évolue avec le niveau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133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Mémotri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00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60+ déchets consultables
sans scanner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40233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19" y="4133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9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Leaderboard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4800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Classement mondial
avec rang personnel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749039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4133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Auth OAuth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Connexion Google
1 clic, zéro friction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Microservices conteneurisés avec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🌐
Next.js
Port 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175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Frontend + API Routes
+ Authentification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554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🧠
FastAPI
Port 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Inférence YOLO11
+ Logique métier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330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0691"/>
                </a:solidFill>
                <a:latin typeface="Calibri"/>
              </a:rPr>
              <a:t>🐘
PostgreSQL
Port 5433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Users, Scans,
Badges, Sessions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743200" cy="73152"/>
          </a:xfrm>
          <a:prstGeom prst="rect">
            <a:avLst/>
          </a:prstGeom>
          <a:solidFill>
            <a:srgbClr val="260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554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609ED"/>
                </a:solidFill>
                <a:latin typeface="Calibri"/>
              </a:rPr>
              <a:t>🐳
Docker
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0175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Orchestration
&amp; Réseau inter-services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6381" y="2560320"/>
            <a:ext cx="7643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Flux de données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16636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1.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L'utilisateur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upload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une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photo  →  2.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Next.js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envoie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vers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(POST /classify)  →  3. YOLO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détecte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les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objets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
4.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Résultats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JSON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retournés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 →  5. Quiz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affiché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 →  6. XP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sauvegardé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PostgreSQL via Prisma 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04 — Modèle IA : YOLOv11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You Only Look Once — Détection d'objets en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0352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Pourquoi YOLOv11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Détection + Localisation en une seule passe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YOLOv11n : ~2.6M paramètres (léger, web-friendly)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Inférence &lt; 200ms sur CPU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mAP50 = 0.83 sur notre dataset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Export ONNX/TFLite pour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6 Classes détectées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30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  <a:latin typeface="Calibri"/>
              </a:rPr>
              <a:t>🟡 PLASTIC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5230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  <a:latin typeface="Calibri"/>
              </a:rPr>
              <a:t>🟡 CARDBOARD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230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  <a:latin typeface="Calibri"/>
              </a:rPr>
              <a:t>🟡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41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🟢 GLASS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641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  <a:latin typeface="Calibri"/>
              </a:rPr>
              <a:t>🟡 METAL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641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⚫ BIODEG.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80160"/>
            <a:ext cx="59436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Dataset &amp; Entraînement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Source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Kaggle + TrashNet (Stanford)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Total images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~11 700 (train + val + test)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Répartition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70% train / 20% val / 10%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Entraînement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Google Colab — GPU T4 (15 Go)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Epochs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150 avec early stopping (patience=20)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Optimizer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AdamW — lr=0.001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Conf. seuil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0.40 (calibré sur jeu de test)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852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mAP50 final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0.83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05 — Fonctionnalités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Le Scanner IA et le Quiz Pédagogique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🔬  Le Scanner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Upload photo (JPEG/PNG) ou drag &amp; drop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Envoi vers FastAPI via POST /classify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YOLO détecte tous les objets dans l'image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Bounding boxes colorées superposées à l'image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Résultat JSON : label + confiance + bac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Si confiance &lt; 40% → objet ignoré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Si 0 objet → carte conseil pour réessayer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6692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669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🎮  Le Quiz Pédagogique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Affiché APRÈS la détection (pas avant)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Question : « Dans quelle poubelle ? »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3 boutons : 🟡 Jaune / 🟢 Verte / ⚫ Noire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Si plusieurs objets → questions séquentielles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Réponse correcte → ✅ +XP animé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Réponse incorrecte → ❌ Conseil pédagogique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Auto-avance après 2 secondes de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📊 Barème XP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864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+10 XP — Correct + conf. ≥ 75%  |  +5 XP — Correct + conf. &lt; 75%  |  0 XP — Incorrect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06 — Gamification &amp; Éco-Bot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Un système complet pour fidéliser l'utilisateur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⚡  XP Adaptatif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Calculé selon justesse + confiance IA
ForcedXP envoyé du quiz au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📈  Niveaux &amp; Streaks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100 XP = +1 Niveau
Streaks : jours consécutifs de scan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🏅  Badges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Débloqués automatiquement
selon les accomplissements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2004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🏆  Leaderboard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94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Top 5 mondial affiché
Rang exact calculé côté serveur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1161288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366F1"/>
                </a:solidFill>
                <a:latin typeface="Calibri"/>
              </a:rPr>
              <a:t>🤖  Éco-Bot — Compagnon Tamagotchi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15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Niv. 1–2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💔 Abîmé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5715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Niv.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6035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🔧 Réparation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5715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Niv. 6–10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6035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Opérationnel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5715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Niv.11–20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6035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🌟 Expert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5715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Niv. 21+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6035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🏆 Légendaire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06 (bis) — Le Mémotri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L'encyclopédie interactive du tri — Alternative au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9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4D399"/>
                </a:solidFill>
                <a:latin typeface="Calibri"/>
              </a:rPr>
              <a:t>📖  Une page dédiée (/guide) que l'utilisateur peut consulter librement, sans appareil photo ni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60+ déchets répertoriés dans 7 catégories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Recherche texte dynamique (filtre côté client avec useMemo — 0 requête DB)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Filtres par catégorie : Plastique / Verre / Papier / Métal / Biodéchets / Ordures / Point de collecte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Chaque carte affiche : Nom du déchet + Icône + Pastille de poubelle + Conseil pédagogique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Inclut les cas spéciaux : piles, médicaments, DEEE, vêtements, huile usagée, thermomètre mercure...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Donnée 100% locale (lib/memotri-data.ts) — Aucune latence, fonctionne hors-ligne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276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🟡 Plastique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21208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5276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🟢 Verre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521208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5276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🟡 Papier &amp; Carton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521208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5276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🟡 Métal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76072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824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4CC16"/>
                </a:solidFill>
                <a:latin typeface="Calibri"/>
              </a:rPr>
              <a:t>🌱 Biodéchets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76072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5824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⚫ Ordures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760720"/>
            <a:ext cx="27432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5824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♻️ Point collecte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07 — Stack Technologique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IA &amp;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Python 3.11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FastAPI 0.115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Ultralytics YOLO 8.3+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PyTorch 2.x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Uvicorn (ASGI)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6366F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Next.js 14 (App Router)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6366F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React 18 + TypeScript 5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6366F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Tailwind CSS v4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6366F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Framer Motion (animations)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6366F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Shadcn/UI (composants)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330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0691"/>
                </a:solidFill>
                <a:latin typeface="Calibri"/>
              </a:rPr>
              <a:t>Base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069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PostgreSQL 15-alpine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069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Prisma ORM 5.22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069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NextAuth.js (OAuth)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069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JWT (stratégie de session)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60" y="1280160"/>
            <a:ext cx="2743200" cy="73152"/>
          </a:xfrm>
          <a:prstGeom prst="rect">
            <a:avLst/>
          </a:prstGeom>
          <a:solidFill>
            <a:srgbClr val="260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09ED"/>
                </a:solidFill>
                <a:latin typeface="Calibri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9659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09ED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Docker 27+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09ED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Docker Compose 3.8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09ED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Google Colab (GPU T4)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609ED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Git / 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08 — Résultats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Performance du modèle YOLO11 sur le jeu de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0.83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mAP50
global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Précision
moyenne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28016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Rappel
moyen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Détail par classe 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20116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Classe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20040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20040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20040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mAP50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11880"/>
            <a:ext cx="201168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630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611880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3630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0.92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611880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0" y="3630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611880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3630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  <a:latin typeface="Calibri"/>
              </a:rPr>
              <a:t>0.91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41648"/>
            <a:ext cx="201168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4059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PLASTIC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041648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0" y="40599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4041648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31920" y="40599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4041648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7840" y="40599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  <a:latin typeface="Calibri"/>
              </a:rPr>
              <a:t>0.87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71416"/>
            <a:ext cx="201168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4897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CARDBOARD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4471416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86000" y="4489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4471416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4489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471416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7840" y="4489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  <a:latin typeface="Calibri"/>
              </a:rPr>
              <a:t>0.86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01184"/>
            <a:ext cx="201168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49194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4901184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86000" y="49194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4901184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31920" y="49194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0.79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4901184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7840" y="49194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  <a:latin typeface="Calibri"/>
              </a:rPr>
              <a:t>0.83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330952"/>
            <a:ext cx="201168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5349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METAL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5330952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0" y="5349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0" y="5330952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31920" y="5349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0.77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5330952"/>
            <a:ext cx="164592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77840" y="5349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  <a:latin typeface="Calibri"/>
              </a:rPr>
              <a:t>0.81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760720"/>
            <a:ext cx="201168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4320" y="5779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BIODEGRADABLE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0" y="5760720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286000" y="57790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0.74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31920" y="5760720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31920" y="57790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0.68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5760720"/>
            <a:ext cx="164592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77840" y="57790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0.72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2636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Calibri"/>
              </a:rPr>
              <a:t>⚠️  BIODEGRADABLE : classe la plus hétérogène (fruits, restes, épluchures)
→ Amélioration possible avec un dataset plus diversifié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2834640"/>
            <a:ext cx="4572000" cy="37490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498079" y="29260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⏱ Temps d'inférence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79" y="34290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CPU MacBook M1 : ~180 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GPU T4 Colab   : ~25 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Docker (MacOS) : ~220 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✅ Largement acceptable pour
une application web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🎬  Démonstration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🌐  localhost:3000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1️⃣  Upload d'une photo de déchet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060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2️⃣  Détection YOLO + Bounding 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118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3️⃣  Quiz pédagogique interactif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118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4️⃣  Écran résumé + Sauvegarde XP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6177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5️⃣  Dashboard + Éco-Bot + Leaderboard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6177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6️⃣  Mémotri — Recherche en temps réel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89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API IA :  http://localhost:8000/docs   (Swagger UI)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09 — Limites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⚠️  Limites actuelles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94A3B8"/>
                </a:solidFill>
                <a:latin typeface="Calibri"/>
              </a:rPr>
              <a:t>6 classes seulement (piles, médicaments non inclus dans YOLO)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94A3B8"/>
                </a:solidFill>
                <a:latin typeface="Calibri"/>
              </a:rPr>
              <a:t>Mode hors-ligne non supporté (API requise)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94A3B8"/>
                </a:solidFill>
                <a:latin typeface="Calibri"/>
              </a:rPr>
              <a:t>Frontend Next.js non conteneurisé en dev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94A3B8"/>
                </a:solidFill>
                <a:latin typeface="Calibri"/>
              </a:rPr>
              <a:t>Images non conservées (seulement les métadonnées)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94A3B8"/>
                </a:solidFill>
                <a:latin typeface="Calibri"/>
              </a:rPr>
              <a:t>BIODEGRADABLE : mAP50 = 0.72 (classe complexe)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6692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🚀  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App mobile React Native / Expo (caméra native)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Déploiement cloud Vercel + Railway + Neon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Export ONNX → Mode hors-ligne dans le navigateur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Ajout classes YOLO : piles, DEEE, textiles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LLM intégré pour questions libres sur le tri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0B981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Partenariat collectivités locales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4D399"/>
                </a:solidFill>
                <a:latin typeface="Calibri"/>
              </a:rPr>
              <a:t>Smart Recycle démontre qu'une IA accessible, couplée à une approche pédagogique
et des mécaniques de jeu, peut transformer un geste quotidien en expérience engageante.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116128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Ce projet a permis de maîtriser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🤖  Intelligence Artificielle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Pipeline complet Dataset → YOLO → API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mAP50, Précision, Rappel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Hyperparamètres et early stopping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🌐  Full-Stack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383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Architecture microservices Docker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Next.js App Router + Server Components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Prisma ORM + PostgreSQL + NextAuth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🎨  UX /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383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Machine à états React (idle/quiz/summary)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Animations Framer Motion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Système de gamification complet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669280"/>
            <a:ext cx="94183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34D399"/>
                </a:solidFill>
                <a:latin typeface="Calibri"/>
              </a:rPr>
              <a:t>"On ne protège que ce qu'on aime, on n'aime que ce qu'on comprend."  — Baba Dioum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attention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0B981"/>
                </a:solidFill>
                <a:latin typeface="Calibri"/>
              </a:rPr>
              <a:t>Des questions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749039"/>
            <a:ext cx="48463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94A3B8"/>
                </a:solidFill>
                <a:latin typeface="Calibri"/>
              </a:rPr>
              <a:t>Smart Recycle — PFE 2025/2026  •  </a:t>
            </a:r>
            <a:r>
              <a:rPr lang="en-US" sz="1400" i="1" dirty="0">
                <a:solidFill>
                  <a:srgbClr val="94A3B8"/>
                </a:solidFill>
                <a:latin typeface="Calibri"/>
              </a:rPr>
              <a:t>GROUPE 1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•  </a:t>
            </a:r>
            <a:r>
              <a:rPr lang="en-US" sz="1400" b="0" i="1" dirty="0">
                <a:solidFill>
                  <a:srgbClr val="94A3B8"/>
                </a:solidFill>
                <a:latin typeface="Calibri"/>
              </a:rPr>
              <a:t>ECE LYON</a:t>
            </a:r>
            <a:endParaRPr sz="1400" b="0" i="1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Stack : YOLOv11 • FastAPI • Next.js 14 • PostgreSQL • Docker • Prisma • NextAuth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1658</Words>
  <Application>Microsoft Macintosh PowerPoint</Application>
  <PresentationFormat>Personnalisé</PresentationFormat>
  <Paragraphs>311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Mouhammadou Ramadane DIALLO</cp:lastModifiedBy>
  <cp:revision>6</cp:revision>
  <dcterms:created xsi:type="dcterms:W3CDTF">2013-01-27T09:14:16Z</dcterms:created>
  <dcterms:modified xsi:type="dcterms:W3CDTF">2026-03-29T12:18:59Z</dcterms:modified>
  <cp:category/>
</cp:coreProperties>
</file>